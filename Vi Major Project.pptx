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0"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3CA1C8-ECFC-417C-99A0-769E16D94F30}" v="158" dt="2026-09-09T18:15:51.64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1510460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5259888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6037635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315220548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5713332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35930416"/>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4914666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92764569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1573738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434709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9019151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150963988"/>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9880670"/>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47789759"/>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58024433"/>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52301014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01089044"/>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988870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483130593"/>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4826663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8318738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4.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
        <p:nvSpPr>
          <p:cNvPr id="11" name="Date Placeholder 3">
            <a:extLst>
              <a:ext uri="{FF2B5EF4-FFF2-40B4-BE49-F238E27FC236}">
                <a16:creationId xmlns:a16="http://schemas.microsoft.com/office/drawing/2014/main" id="{D8925569-3D1F-E399-567E-4E731D936B08}"/>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12" name="Footer Placeholder 4">
            <a:extLst>
              <a:ext uri="{FF2B5EF4-FFF2-40B4-BE49-F238E27FC236}">
                <a16:creationId xmlns:a16="http://schemas.microsoft.com/office/drawing/2014/main" id="{24A3C222-5F02-AC2B-0286-BBB3267D88A3}"/>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13" name="Slide Number Placeholder 5">
            <a:extLst>
              <a:ext uri="{FF2B5EF4-FFF2-40B4-BE49-F238E27FC236}">
                <a16:creationId xmlns:a16="http://schemas.microsoft.com/office/drawing/2014/main" id="{CA770785-1289-7A1C-2BB2-3F0B923C2B7D}"/>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965389166"/>
      </p:ext>
    </p:extLst>
  </p:cSld>
  <p:clrMap bg1="dk1" tx1="lt1" bg2="dk2" tx2="lt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788" r:id="rId18"/>
    <p:sldLayoutId id="2147483789" r:id="rId19"/>
    <p:sldLayoutId id="2147483790" r:id="rId20"/>
    <p:sldLayoutId id="2147483791" r:id="rId21"/>
    <p:sldLayoutId id="2147483690" r:id="rId22"/>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jfif"/><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6.jfif"/><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6.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6.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6.jfif"/><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35876" y="3445559"/>
            <a:ext cx="5635691" cy="861497"/>
          </a:xfrm>
        </p:spPr>
        <p:txBody>
          <a:bodyPr vert="horz" lIns="91440" tIns="45720" rIns="91440" bIns="45720" rtlCol="0" anchor="t">
            <a:normAutofit/>
          </a:bodyPr>
          <a:lstStyle/>
          <a:p>
            <a:pPr algn="r"/>
            <a:r>
              <a:rPr lang="en-US" b="0" dirty="0">
                <a:solidFill>
                  <a:schemeClr val="tx1"/>
                </a:solidFill>
                <a:latin typeface="Times New Roman" panose="02020603050405020304" pitchFamily="18" charset="0"/>
                <a:cs typeface="Times New Roman" panose="02020603050405020304" pitchFamily="18" charset="0"/>
              </a:rPr>
              <a:t>Student Name : </a:t>
            </a:r>
            <a:r>
              <a:rPr lang="en-US" b="0" dirty="0" err="1">
                <a:solidFill>
                  <a:schemeClr val="tx1"/>
                </a:solidFill>
                <a:latin typeface="Times New Roman" panose="02020603050405020304" pitchFamily="18" charset="0"/>
                <a:cs typeface="Times New Roman" panose="02020603050405020304" pitchFamily="18" charset="0"/>
              </a:rPr>
              <a:t>Vanaparthy</a:t>
            </a:r>
            <a:r>
              <a:rPr lang="en-US" b="0" dirty="0">
                <a:solidFill>
                  <a:schemeClr val="tx1"/>
                </a:solidFill>
                <a:latin typeface="Times New Roman" panose="02020603050405020304" pitchFamily="18" charset="0"/>
                <a:cs typeface="Times New Roman" panose="02020603050405020304" pitchFamily="18" charset="0"/>
              </a:rPr>
              <a:t>    </a:t>
            </a:r>
            <a:r>
              <a:rPr lang="en-US" b="0" dirty="0" err="1">
                <a:solidFill>
                  <a:schemeClr val="tx1"/>
                </a:solidFill>
                <a:latin typeface="Times New Roman" panose="02020603050405020304" pitchFamily="18" charset="0"/>
                <a:cs typeface="Times New Roman" panose="02020603050405020304" pitchFamily="18" charset="0"/>
              </a:rPr>
              <a:t>Ruthwik</a:t>
            </a:r>
            <a:endParaRPr lang="en-IN" b="0" dirty="0">
              <a:solidFill>
                <a:schemeClr val="tx1"/>
              </a:solidFill>
              <a:latin typeface="Times New Roman" panose="02020603050405020304" pitchFamily="18" charset="0"/>
              <a:cs typeface="Times New Roman" panose="02020603050405020304" pitchFamily="18" charset="0"/>
            </a:endParaRPr>
          </a:p>
          <a:p>
            <a:pPr algn="r"/>
            <a:r>
              <a:rPr lang="en-US" b="0" dirty="0">
                <a:solidFill>
                  <a:schemeClr val="tx1"/>
                </a:solidFill>
                <a:latin typeface="Times New Roman" panose="02020603050405020304" pitchFamily="18" charset="0"/>
                <a:cs typeface="Times New Roman" panose="02020603050405020304" pitchFamily="18" charset="0"/>
              </a:rPr>
              <a:t>College Name: Vaagdevi College Of Engineering </a:t>
            </a:r>
            <a:endParaRPr lang="en-IN" b="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706643" y="2685552"/>
            <a:ext cx="8244184" cy="743448"/>
          </a:xfrm>
        </p:spPr>
        <p:txBody>
          <a:bodyPr>
            <a:normAutofit fontScale="90000"/>
          </a:bodyPr>
          <a:lstStyle/>
          <a:p>
            <a:r>
              <a:rPr lang="en-GB" sz="2700" dirty="0">
                <a:latin typeface="Times New Roman" panose="02020603050405020304" pitchFamily="18" charset="0"/>
                <a:cs typeface="Times New Roman" panose="02020603050405020304" pitchFamily="18" charset="0"/>
              </a:rPr>
              <a:t>Project Title </a:t>
            </a:r>
            <a:r>
              <a:rPr lang="en-GB" sz="3200" dirty="0"/>
              <a:t>-</a:t>
            </a:r>
            <a:r>
              <a:rPr lang="en-GB" sz="2700" dirty="0" err="1">
                <a:latin typeface="Times New Roman" panose="02020603050405020304" pitchFamily="18" charset="0"/>
                <a:cs typeface="Times New Roman" panose="02020603050405020304" pitchFamily="18" charset="0"/>
              </a:rPr>
              <a:t>Seasonal_Agriculture_Performance</a:t>
            </a:r>
            <a:r>
              <a:rPr lang="en-GB" sz="2700" dirty="0">
                <a:latin typeface="Times New Roman" panose="02020603050405020304" pitchFamily="18" charset="0"/>
                <a:cs typeface="Times New Roman" panose="02020603050405020304" pitchFamily="18" charset="0"/>
              </a:rPr>
              <a:t> _Analysis</a:t>
            </a:r>
            <a:endParaRPr lang="en-IN" sz="2700"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899817" y="4627294"/>
            <a:ext cx="3838529"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a:t>
            </a:r>
            <a:r>
              <a:rPr lang="en-IN" b="1" dirty="0"/>
              <a:t>STU6a2ed4dd302bc1781454045</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2102230"/>
            <a:ext cx="6431280" cy="3607987"/>
          </a:xfrm>
        </p:spPr>
        <p:txBody>
          <a:bodyPr vert="horz" lIns="91440" tIns="45720" rIns="91440" bIns="45720" rtlCol="0" anchor="t">
            <a:normAutofit fontScale="62500" lnSpcReduction="20000"/>
          </a:bodyPr>
          <a:lstStyle/>
          <a:p>
            <a:pPr lvl="0"/>
            <a:r>
              <a:rPr lang="en-IN" sz="2800" dirty="0">
                <a:latin typeface="Times New Roman" panose="02020603050405020304" pitchFamily="18" charset="0"/>
                <a:cs typeface="Times New Roman" panose="02020603050405020304" pitchFamily="18" charset="0"/>
              </a:rPr>
              <a:t>Agricultural performance varies across seasons, crops, regions, and environmental conditions. </a:t>
            </a:r>
          </a:p>
          <a:p>
            <a:pPr lvl="0"/>
            <a:r>
              <a:rPr lang="en-IN" sz="2800" dirty="0">
                <a:latin typeface="Times New Roman" panose="02020603050405020304" pitchFamily="18" charset="0"/>
                <a:cs typeface="Times New Roman" panose="02020603050405020304" pitchFamily="18" charset="0"/>
              </a:rPr>
              <a:t>Farmers need to understand which seasons provide better yield and profitability. </a:t>
            </a:r>
          </a:p>
          <a:p>
            <a:pPr lvl="0"/>
            <a:r>
              <a:rPr lang="en-IN" sz="2800" dirty="0">
                <a:latin typeface="Times New Roman" panose="02020603050405020304" pitchFamily="18" charset="0"/>
                <a:cs typeface="Times New Roman" panose="02020603050405020304" pitchFamily="18" charset="0"/>
              </a:rPr>
              <a:t>Different levels of rainfall, temperature, soil moisture, and resource usage can affect crop performance. </a:t>
            </a:r>
          </a:p>
          <a:p>
            <a:pPr lvl="0"/>
            <a:r>
              <a:rPr lang="en-IN" sz="2800" dirty="0">
                <a:latin typeface="Times New Roman" panose="02020603050405020304" pitchFamily="18" charset="0"/>
                <a:cs typeface="Times New Roman" panose="02020603050405020304" pitchFamily="18" charset="0"/>
              </a:rPr>
              <a:t>Large agricultural datasets are difficult to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manually. </a:t>
            </a:r>
          </a:p>
          <a:p>
            <a:pPr lvl="0"/>
            <a:r>
              <a:rPr lang="en-IN" sz="2800" dirty="0">
                <a:latin typeface="Times New Roman" panose="02020603050405020304" pitchFamily="18" charset="0"/>
                <a:cs typeface="Times New Roman" panose="02020603050405020304" pitchFamily="18" charset="0"/>
              </a:rPr>
              <a:t>There is a need for data-driven analysis to identify seasonal patterns, relationships, and unusual observations. </a:t>
            </a:r>
          </a:p>
          <a:p>
            <a:pPr lvl="0"/>
            <a:r>
              <a:rPr lang="en-IN" sz="2800" dirty="0">
                <a:latin typeface="Times New Roman" panose="02020603050405020304" pitchFamily="18" charset="0"/>
                <a:cs typeface="Times New Roman" panose="02020603050405020304" pitchFamily="18" charset="0"/>
              </a:rPr>
              <a:t>The project aims to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these factors and provide evidence-based insights for better agricultural planning.</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75957" y="75272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800358" y="1517408"/>
            <a:ext cx="8352972" cy="5492950"/>
          </a:xfrm>
        </p:spPr>
        <p:txBody>
          <a:bodyPr>
            <a:normAutofit fontScale="90000"/>
          </a:bodyPr>
          <a:lstStyle/>
          <a:p>
            <a:pPr lvl="0"/>
            <a:r>
              <a:rPr lang="en-GB" sz="3600" dirty="0">
                <a:latin typeface="Times New Roman" panose="02020603050405020304" pitchFamily="18" charset="0"/>
                <a:cs typeface="Times New Roman" panose="02020603050405020304" pitchFamily="18" charset="0"/>
              </a:rPr>
              <a:t>Project Description:</a:t>
            </a:r>
            <a:br>
              <a:rPr lang="en-GB" sz="36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This project </a:t>
            </a:r>
            <a:r>
              <a:rPr lang="en-IN" sz="1800" dirty="0" err="1">
                <a:latin typeface="Times New Roman" panose="02020603050405020304" pitchFamily="18" charset="0"/>
                <a:cs typeface="Times New Roman" panose="02020603050405020304" pitchFamily="18" charset="0"/>
              </a:rPr>
              <a:t>analyzes</a:t>
            </a:r>
            <a:r>
              <a:rPr lang="en-IN" sz="1800" dirty="0">
                <a:latin typeface="Times New Roman" panose="02020603050405020304" pitchFamily="18" charset="0"/>
                <a:cs typeface="Times New Roman" panose="02020603050405020304" pitchFamily="18" charset="0"/>
              </a:rPr>
              <a:t> agricultural data across different seasons such as Kharif, Rabi, and Zaid.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The dataset contains information about crops, geographical regions, farming conditions, environmental factors, resources, production, revenue, cost, and profit.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Data preprocessing and cleaning techniques are used to improve data quality.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Exploratory Data Analysis (EDA) is performed to understand important patterns and trends.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Seasonal performance is compared using yield, production, revenue, cost, and profit.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Crop-wise and region-wise performance is </a:t>
            </a:r>
            <a:r>
              <a:rPr lang="en-IN" sz="1800" dirty="0" err="1">
                <a:latin typeface="Times New Roman" panose="02020603050405020304" pitchFamily="18" charset="0"/>
                <a:cs typeface="Times New Roman" panose="02020603050405020304" pitchFamily="18" charset="0"/>
              </a:rPr>
              <a:t>analyzed</a:t>
            </a:r>
            <a:r>
              <a:rPr lang="en-IN" sz="1800" dirty="0">
                <a:latin typeface="Times New Roman" panose="02020603050405020304" pitchFamily="18" charset="0"/>
                <a:cs typeface="Times New Roman" panose="02020603050405020304" pitchFamily="18" charset="0"/>
              </a:rPr>
              <a:t>.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Relationships between environmental factors and crop yield are studied using correlation analysis.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Statistical techniques such as ANOVA and Tukey HSD are used to compare seasonal performance.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The final results provide insights for seasonal crop planning and efficient resource allocation. </a:t>
            </a:r>
            <a:br>
              <a:rPr lang="en-IN" sz="1800" dirty="0">
                <a:latin typeface="Times New Roman" panose="02020603050405020304" pitchFamily="18" charset="0"/>
                <a:cs typeface="Times New Roman" panose="02020603050405020304" pitchFamily="18" charset="0"/>
              </a:rPr>
            </a:br>
            <a:br>
              <a:rPr lang="en-GB"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851400"/>
            <a:ext cx="7904481" cy="3990023"/>
          </a:xfrm>
        </p:spPr>
        <p:txBody>
          <a:bodyPr>
            <a:normAutofit fontScale="47500" lnSpcReduction="20000"/>
          </a:bodyPr>
          <a:lstStyle/>
          <a:p>
            <a:pPr marL="0" indent="0">
              <a:buNone/>
            </a:pPr>
            <a:r>
              <a:rPr lang="en-IN" sz="5000" b="1" dirty="0">
                <a:latin typeface="Times New Roman" panose="02020603050405020304" pitchFamily="18" charset="0"/>
                <a:cs typeface="Times New Roman" panose="02020603050405020304" pitchFamily="18" charset="0"/>
              </a:rPr>
              <a:t>Primary End Users:</a:t>
            </a:r>
          </a:p>
          <a:p>
            <a:pPr lvl="0"/>
            <a:r>
              <a:rPr lang="en-IN" sz="3400" b="1" dirty="0">
                <a:latin typeface="Times New Roman" panose="02020603050405020304" pitchFamily="18" charset="0"/>
                <a:cs typeface="Times New Roman" panose="02020603050405020304" pitchFamily="18" charset="0"/>
              </a:rPr>
              <a:t>Farmers</a:t>
            </a:r>
            <a:r>
              <a:rPr lang="en-IN" sz="3400" dirty="0">
                <a:latin typeface="Times New Roman" panose="02020603050405020304" pitchFamily="18" charset="0"/>
                <a:cs typeface="Times New Roman" panose="02020603050405020304" pitchFamily="18" charset="0"/>
              </a:rPr>
              <a:t> – To select suitable seasons and crops based on historical performance. </a:t>
            </a:r>
          </a:p>
          <a:p>
            <a:pPr lvl="0"/>
            <a:r>
              <a:rPr lang="en-IN" sz="3400" b="1" dirty="0">
                <a:latin typeface="Times New Roman" panose="02020603050405020304" pitchFamily="18" charset="0"/>
                <a:cs typeface="Times New Roman" panose="02020603050405020304" pitchFamily="18" charset="0"/>
              </a:rPr>
              <a:t>Agricultural Planners</a:t>
            </a:r>
            <a:r>
              <a:rPr lang="en-IN" sz="3400" dirty="0">
                <a:latin typeface="Times New Roman" panose="02020603050405020304" pitchFamily="18" charset="0"/>
                <a:cs typeface="Times New Roman" panose="02020603050405020304" pitchFamily="18" charset="0"/>
              </a:rPr>
              <a:t> – To plan seasonal farming activities and resource allocation. </a:t>
            </a:r>
          </a:p>
          <a:p>
            <a:pPr lvl="0"/>
            <a:r>
              <a:rPr lang="en-IN" sz="3400" b="1" dirty="0">
                <a:latin typeface="Times New Roman" panose="02020603050405020304" pitchFamily="18" charset="0"/>
                <a:cs typeface="Times New Roman" panose="02020603050405020304" pitchFamily="18" charset="0"/>
              </a:rPr>
              <a:t>Agricultural Officers</a:t>
            </a:r>
            <a:r>
              <a:rPr lang="en-IN" sz="3400" dirty="0">
                <a:latin typeface="Times New Roman" panose="02020603050405020304" pitchFamily="18" charset="0"/>
                <a:cs typeface="Times New Roman" panose="02020603050405020304" pitchFamily="18" charset="0"/>
              </a:rPr>
              <a:t> – To understand regional and seasonal agricultural trends. </a:t>
            </a:r>
          </a:p>
          <a:p>
            <a:pPr lvl="0"/>
            <a:r>
              <a:rPr lang="en-IN" sz="3400" b="1" dirty="0">
                <a:latin typeface="Times New Roman" panose="02020603050405020304" pitchFamily="18" charset="0"/>
                <a:cs typeface="Times New Roman" panose="02020603050405020304" pitchFamily="18" charset="0"/>
              </a:rPr>
              <a:t>Agricultural Researchers</a:t>
            </a:r>
            <a:r>
              <a:rPr lang="en-IN" sz="3400" dirty="0">
                <a:latin typeface="Times New Roman" panose="02020603050405020304" pitchFamily="18" charset="0"/>
                <a:cs typeface="Times New Roman" panose="02020603050405020304" pitchFamily="18" charset="0"/>
              </a:rPr>
              <a:t> – To study relationships between environmental conditions and crop performance.</a:t>
            </a:r>
            <a:r>
              <a:rPr lang="en-IN" sz="3600" dirty="0"/>
              <a:t> </a:t>
            </a:r>
          </a:p>
          <a:p>
            <a:pPr marL="0" indent="0">
              <a:buNone/>
            </a:pPr>
            <a:r>
              <a:rPr lang="en-IN" sz="5000" b="1" dirty="0">
                <a:latin typeface="Times New Roman" panose="02020603050405020304" pitchFamily="18" charset="0"/>
                <a:cs typeface="Times New Roman" panose="02020603050405020304" pitchFamily="18" charset="0"/>
              </a:rPr>
              <a:t>Other Users:</a:t>
            </a:r>
          </a:p>
          <a:p>
            <a:pPr lvl="0"/>
            <a:r>
              <a:rPr lang="en-IN" sz="3400" b="1" dirty="0">
                <a:latin typeface="Times New Roman" panose="02020603050405020304" pitchFamily="18" charset="0"/>
                <a:cs typeface="Times New Roman" panose="02020603050405020304" pitchFamily="18" charset="0"/>
              </a:rPr>
              <a:t>Government Agricultural Departments</a:t>
            </a:r>
            <a:r>
              <a:rPr lang="en-IN" sz="3400" dirty="0">
                <a:latin typeface="Times New Roman" panose="02020603050405020304" pitchFamily="18" charset="0"/>
                <a:cs typeface="Times New Roman" panose="02020603050405020304" pitchFamily="18" charset="0"/>
              </a:rPr>
              <a:t> – For data-driven agricultural planning. </a:t>
            </a:r>
          </a:p>
          <a:p>
            <a:pPr lvl="0"/>
            <a:r>
              <a:rPr lang="en-IN" sz="3400" b="1" dirty="0">
                <a:latin typeface="Times New Roman" panose="02020603050405020304" pitchFamily="18" charset="0"/>
                <a:cs typeface="Times New Roman" panose="02020603050405020304" pitchFamily="18" charset="0"/>
              </a:rPr>
              <a:t>Agribusiness Organizations</a:t>
            </a:r>
            <a:r>
              <a:rPr lang="en-IN" sz="3400" dirty="0">
                <a:latin typeface="Times New Roman" panose="02020603050405020304" pitchFamily="18" charset="0"/>
                <a:cs typeface="Times New Roman" panose="02020603050405020304" pitchFamily="18" charset="0"/>
              </a:rPr>
              <a:t> – To understand production and profitability patterns. </a:t>
            </a:r>
          </a:p>
          <a:p>
            <a:pPr lvl="0"/>
            <a:r>
              <a:rPr lang="en-IN" sz="3400" b="1" dirty="0">
                <a:latin typeface="Times New Roman" panose="02020603050405020304" pitchFamily="18" charset="0"/>
                <a:cs typeface="Times New Roman" panose="02020603050405020304" pitchFamily="18" charset="0"/>
              </a:rPr>
              <a:t>Agricultural Analysts</a:t>
            </a:r>
            <a:r>
              <a:rPr lang="en-IN" sz="3400" dirty="0">
                <a:latin typeface="Times New Roman" panose="02020603050405020304" pitchFamily="18" charset="0"/>
                <a:cs typeface="Times New Roman" panose="02020603050405020304" pitchFamily="18" charset="0"/>
              </a:rPr>
              <a:t> – To perform further analysis and decision-making.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399" y="999264"/>
            <a:ext cx="9027702" cy="5243448"/>
          </a:xfrm>
        </p:spPr>
        <p:txBody>
          <a:bodyPr>
            <a:normAutofit fontScale="77500" lnSpcReduction="20000"/>
          </a:bodyPr>
          <a:lstStyle/>
          <a:p>
            <a:pPr marL="0" indent="0">
              <a:buNone/>
            </a:pPr>
            <a:r>
              <a:rPr lang="en-IN" sz="2100" b="1" dirty="0">
                <a:latin typeface="Times New Roman" panose="02020603050405020304" pitchFamily="18" charset="0"/>
                <a:cs typeface="Times New Roman" panose="02020603050405020304" pitchFamily="18" charset="0"/>
              </a:rPr>
              <a:t>Programming &amp; Platform</a:t>
            </a:r>
          </a:p>
          <a:p>
            <a:pPr lvl="0"/>
            <a:r>
              <a:rPr lang="en-IN" sz="2100" b="1" dirty="0">
                <a:latin typeface="Times New Roman" panose="02020603050405020304" pitchFamily="18" charset="0"/>
                <a:cs typeface="Times New Roman" panose="02020603050405020304" pitchFamily="18" charset="0"/>
              </a:rPr>
              <a:t>Python.</a:t>
            </a:r>
            <a:r>
              <a:rPr lang="en-IN" sz="2100" dirty="0">
                <a:latin typeface="Times New Roman" panose="02020603050405020304" pitchFamily="18" charset="0"/>
                <a:cs typeface="Times New Roman" panose="02020603050405020304" pitchFamily="18" charset="0"/>
              </a:rPr>
              <a:t> </a:t>
            </a:r>
          </a:p>
          <a:p>
            <a:pPr lvl="0"/>
            <a:r>
              <a:rPr lang="en-IN" sz="2100" b="1" dirty="0">
                <a:latin typeface="Times New Roman" panose="02020603050405020304" pitchFamily="18" charset="0"/>
                <a:cs typeface="Times New Roman" panose="02020603050405020304" pitchFamily="18" charset="0"/>
              </a:rPr>
              <a:t>Google </a:t>
            </a:r>
            <a:r>
              <a:rPr lang="en-IN" sz="2100" b="1" dirty="0" err="1">
                <a:latin typeface="Times New Roman" panose="02020603050405020304" pitchFamily="18" charset="0"/>
                <a:cs typeface="Times New Roman" panose="02020603050405020304" pitchFamily="18" charset="0"/>
              </a:rPr>
              <a:t>Colab</a:t>
            </a:r>
            <a:r>
              <a:rPr lang="en-IN" sz="2100" b="1" dirty="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 </a:t>
            </a:r>
          </a:p>
          <a:p>
            <a:pPr lvl="0"/>
            <a:r>
              <a:rPr lang="en-IN" sz="2100" b="1" dirty="0">
                <a:latin typeface="Times New Roman" panose="02020603050405020304" pitchFamily="18" charset="0"/>
                <a:cs typeface="Times New Roman" panose="02020603050405020304" pitchFamily="18" charset="0"/>
              </a:rPr>
              <a:t>Jupyter Notebook.</a:t>
            </a:r>
            <a:r>
              <a:rPr lang="en-IN" sz="2100" dirty="0">
                <a:latin typeface="Times New Roman" panose="02020603050405020304" pitchFamily="18" charset="0"/>
                <a:cs typeface="Times New Roman" panose="02020603050405020304" pitchFamily="18" charset="0"/>
              </a:rPr>
              <a:t> </a:t>
            </a:r>
          </a:p>
          <a:p>
            <a:pPr marL="0" indent="0">
              <a:buNone/>
            </a:pPr>
            <a:r>
              <a:rPr lang="en-IN" sz="2100" b="1" dirty="0">
                <a:latin typeface="Times New Roman" panose="02020603050405020304" pitchFamily="18" charset="0"/>
                <a:cs typeface="Times New Roman" panose="02020603050405020304" pitchFamily="18" charset="0"/>
              </a:rPr>
              <a:t> Python Libraries</a:t>
            </a:r>
          </a:p>
          <a:p>
            <a:pPr lvl="0"/>
            <a:r>
              <a:rPr lang="en-IN" sz="2100" b="1" dirty="0">
                <a:latin typeface="Times New Roman" panose="02020603050405020304" pitchFamily="18" charset="0"/>
                <a:cs typeface="Times New Roman" panose="02020603050405020304" pitchFamily="18" charset="0"/>
              </a:rPr>
              <a:t>Pandas</a:t>
            </a:r>
            <a:r>
              <a:rPr lang="en-IN" sz="2100" dirty="0">
                <a:latin typeface="Times New Roman" panose="02020603050405020304" pitchFamily="18" charset="0"/>
                <a:cs typeface="Times New Roman" panose="02020603050405020304" pitchFamily="18" charset="0"/>
              </a:rPr>
              <a:t> – Data loading, cleaning and analysis. </a:t>
            </a:r>
          </a:p>
          <a:p>
            <a:pPr lvl="0"/>
            <a:r>
              <a:rPr lang="en-IN" sz="2100" b="1" dirty="0">
                <a:latin typeface="Times New Roman" panose="02020603050405020304" pitchFamily="18" charset="0"/>
                <a:cs typeface="Times New Roman" panose="02020603050405020304" pitchFamily="18" charset="0"/>
              </a:rPr>
              <a:t>NumPy</a:t>
            </a:r>
            <a:r>
              <a:rPr lang="en-IN" sz="2100" dirty="0">
                <a:latin typeface="Times New Roman" panose="02020603050405020304" pitchFamily="18" charset="0"/>
                <a:cs typeface="Times New Roman" panose="02020603050405020304" pitchFamily="18" charset="0"/>
              </a:rPr>
              <a:t> – Numerical operations.</a:t>
            </a:r>
          </a:p>
          <a:p>
            <a:pPr lvl="0"/>
            <a:r>
              <a:rPr lang="en-IN" sz="2100" b="1" dirty="0">
                <a:latin typeface="Times New Roman" panose="02020603050405020304" pitchFamily="18" charset="0"/>
                <a:cs typeface="Times New Roman" panose="02020603050405020304" pitchFamily="18" charset="0"/>
              </a:rPr>
              <a:t>Matplotlib</a:t>
            </a:r>
            <a:r>
              <a:rPr lang="en-IN" sz="2100" dirty="0">
                <a:latin typeface="Times New Roman" panose="02020603050405020304" pitchFamily="18" charset="0"/>
                <a:cs typeface="Times New Roman" panose="02020603050405020304" pitchFamily="18" charset="0"/>
              </a:rPr>
              <a:t> – Data visualization.</a:t>
            </a:r>
          </a:p>
          <a:p>
            <a:pPr lvl="0"/>
            <a:r>
              <a:rPr lang="en-IN" sz="2100" b="1" dirty="0">
                <a:latin typeface="Times New Roman" panose="02020603050405020304" pitchFamily="18" charset="0"/>
                <a:cs typeface="Times New Roman" panose="02020603050405020304" pitchFamily="18" charset="0"/>
              </a:rPr>
              <a:t>Seaborn</a:t>
            </a:r>
            <a:r>
              <a:rPr lang="en-IN" sz="2100" dirty="0">
                <a:latin typeface="Times New Roman" panose="02020603050405020304" pitchFamily="18" charset="0"/>
                <a:cs typeface="Times New Roman" panose="02020603050405020304" pitchFamily="18" charset="0"/>
              </a:rPr>
              <a:t> – Statistical visualization. </a:t>
            </a:r>
          </a:p>
          <a:p>
            <a:pPr lvl="0"/>
            <a:r>
              <a:rPr lang="en-IN" sz="2100" b="1" dirty="0">
                <a:latin typeface="Times New Roman" panose="02020603050405020304" pitchFamily="18" charset="0"/>
                <a:cs typeface="Times New Roman" panose="02020603050405020304" pitchFamily="18" charset="0"/>
              </a:rPr>
              <a:t>SciPy</a:t>
            </a:r>
            <a:r>
              <a:rPr lang="en-IN" sz="2100" dirty="0">
                <a:latin typeface="Times New Roman" panose="02020603050405020304" pitchFamily="18" charset="0"/>
                <a:cs typeface="Times New Roman" panose="02020603050405020304" pitchFamily="18" charset="0"/>
              </a:rPr>
              <a:t> – Statistical analysis.</a:t>
            </a:r>
          </a:p>
          <a:p>
            <a:pPr lvl="0"/>
            <a:r>
              <a:rPr lang="en-IN" sz="2100" b="1" dirty="0" err="1">
                <a:latin typeface="Times New Roman" panose="02020603050405020304" pitchFamily="18" charset="0"/>
                <a:cs typeface="Times New Roman" panose="02020603050405020304" pitchFamily="18" charset="0"/>
              </a:rPr>
              <a:t>Statsmodels</a:t>
            </a:r>
            <a:r>
              <a:rPr lang="en-IN" sz="2100" dirty="0">
                <a:latin typeface="Times New Roman" panose="02020603050405020304" pitchFamily="18" charset="0"/>
                <a:cs typeface="Times New Roman" panose="02020603050405020304" pitchFamily="18" charset="0"/>
              </a:rPr>
              <a:t> – Statistical testing.</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15144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F798B5D-1732-1532-E87B-8F68FA6FF5FC}"/>
              </a:ext>
            </a:extLst>
          </p:cNvPr>
          <p:cNvPicPr>
            <a:picLocks noChangeAspect="1"/>
          </p:cNvPicPr>
          <p:nvPr/>
        </p:nvPicPr>
        <p:blipFill>
          <a:blip r:embed="rId3"/>
          <a:stretch>
            <a:fillRect/>
          </a:stretch>
        </p:blipFill>
        <p:spPr>
          <a:xfrm>
            <a:off x="0" y="1220248"/>
            <a:ext cx="12192000" cy="565641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DE7D981-C55D-8452-EC24-6771A0F1A35E}"/>
              </a:ext>
            </a:extLst>
          </p:cNvPr>
          <p:cNvPicPr>
            <a:picLocks noChangeAspect="1"/>
          </p:cNvPicPr>
          <p:nvPr/>
        </p:nvPicPr>
        <p:blipFill>
          <a:blip r:embed="rId3"/>
          <a:stretch>
            <a:fillRect/>
          </a:stretch>
        </p:blipFill>
        <p:spPr>
          <a:xfrm>
            <a:off x="0" y="1431693"/>
            <a:ext cx="12192000" cy="542630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C90B5E0-0B1F-6DAF-A23A-1DAD69E2C3DC}"/>
              </a:ext>
            </a:extLst>
          </p:cNvPr>
          <p:cNvPicPr>
            <a:picLocks noChangeAspect="1"/>
          </p:cNvPicPr>
          <p:nvPr/>
        </p:nvPicPr>
        <p:blipFill>
          <a:blip r:embed="rId3"/>
          <a:stretch>
            <a:fillRect/>
          </a:stretch>
        </p:blipFill>
        <p:spPr>
          <a:xfrm>
            <a:off x="0" y="1539551"/>
            <a:ext cx="12192000" cy="531844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6D57FEE-A200-0B2D-119E-12B3F9D81BFB}"/>
              </a:ext>
            </a:extLst>
          </p:cNvPr>
          <p:cNvPicPr>
            <a:picLocks noChangeAspect="1"/>
          </p:cNvPicPr>
          <p:nvPr/>
        </p:nvPicPr>
        <p:blipFill>
          <a:blip r:embed="rId3"/>
          <a:stretch>
            <a:fillRect/>
          </a:stretch>
        </p:blipFill>
        <p:spPr>
          <a:xfrm>
            <a:off x="0" y="1136180"/>
            <a:ext cx="12192000" cy="563784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AA7660F-6306-6963-7071-0BBF47023894}"/>
              </a:ext>
            </a:extLst>
          </p:cNvPr>
          <p:cNvPicPr>
            <a:picLocks noChangeAspect="1"/>
          </p:cNvPicPr>
          <p:nvPr/>
        </p:nvPicPr>
        <p:blipFill>
          <a:blip r:embed="rId3"/>
          <a:stretch>
            <a:fillRect/>
          </a:stretch>
        </p:blipFill>
        <p:spPr>
          <a:xfrm>
            <a:off x="0" y="1201586"/>
            <a:ext cx="12192000" cy="579869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8598672" cy="6170170"/>
          </a:xfrm>
        </p:spPr>
        <p:txBody>
          <a:bodyPr>
            <a:normAutofit/>
          </a:bodyPr>
          <a:lstStyle/>
          <a:p>
            <a:pPr lvl="0"/>
            <a:r>
              <a:rPr lang="en-IN" sz="2800" dirty="0">
                <a:latin typeface="Times New Roman" panose="02020603050405020304" pitchFamily="18" charset="0"/>
                <a:cs typeface="Times New Roman" panose="02020603050405020304" pitchFamily="18" charset="0"/>
              </a:rPr>
              <a:t>Future scope: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Develop a real-time agricultural dashboard for monitoring seasonal performance.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Integrate weather APIs for real-time rainfall and temperature information.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Use Machine Learning to predict crop yield.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Develop a crop recommendation system based on soil and environmental conditions.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Add market price prediction to estimate future profitability.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Integrate satellite and remote-sensing data for advanced agricultural monitoring.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Develop a mobile application for farmers and agricultural officers.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Provide regional and personalized recommendations based on farm conditions.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Use historical data to identify climate-related agricultural risks.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Extend the system with AI-based decision support for sustainable farming.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526667" y="64117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Box 9">
            <a:extLst>
              <a:ext uri="{FF2B5EF4-FFF2-40B4-BE49-F238E27FC236}">
                <a16:creationId xmlns:a16="http://schemas.microsoft.com/office/drawing/2014/main" id="{4265813F-44C4-8683-09EE-4F126C336A35}"/>
              </a:ext>
            </a:extLst>
          </p:cNvPr>
          <p:cNvSpPr txBox="1"/>
          <p:nvPr/>
        </p:nvSpPr>
        <p:spPr>
          <a:xfrm>
            <a:off x="1054359" y="1800808"/>
            <a:ext cx="5346441" cy="985153"/>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89D9968C-CE69-616C-E152-FFE7AD0A30A5}"/>
              </a:ext>
            </a:extLst>
          </p:cNvPr>
          <p:cNvSpPr txBox="1"/>
          <p:nvPr/>
        </p:nvSpPr>
        <p:spPr>
          <a:xfrm>
            <a:off x="526667" y="1727023"/>
            <a:ext cx="6097554" cy="646331"/>
          </a:xfrm>
          <a:prstGeom prst="rect">
            <a:avLst/>
          </a:prstGeom>
          <a:noFill/>
        </p:spPr>
        <p:txBody>
          <a:bodyPr wrap="square">
            <a:spAutoFit/>
          </a:bodyPr>
          <a:lstStyle/>
          <a:p>
            <a:r>
              <a:rPr lang="en-IN" dirty="0"/>
              <a:t>https://github.com/vanaparthyruthwik-maker/Seasonal-AgriculturePerformanceAnalysis.git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E97E03F-7465-01F2-503F-8ABAFAA3464F}"/>
              </a:ext>
            </a:extLst>
          </p:cNvPr>
          <p:cNvPicPr>
            <a:picLocks noChangeAspect="1"/>
          </p:cNvPicPr>
          <p:nvPr/>
        </p:nvPicPr>
        <p:blipFill>
          <a:blip r:embed="rId3"/>
          <a:stretch>
            <a:fillRect/>
          </a:stretch>
        </p:blipFill>
        <p:spPr>
          <a:xfrm>
            <a:off x="1747519" y="1489687"/>
            <a:ext cx="8351388" cy="517527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11812" y="2493056"/>
            <a:ext cx="11340000" cy="700114"/>
          </a:xfrm>
          <a:prstGeom prst="rect">
            <a:avLst/>
          </a:prstGeom>
        </p:spPr>
        <p:txBody>
          <a:bodyPr anchor="ctr">
            <a:noAutofit/>
          </a:bodyPr>
          <a:lstStyle/>
          <a:p>
            <a:pPr algn="ctr"/>
            <a:r>
              <a:rPr lang="en-US" sz="7200" b="1" dirty="0">
                <a:solidFill>
                  <a:schemeClr val="tx1"/>
                </a:solidFill>
              </a:rPr>
              <a:t>Thank you</a:t>
            </a:r>
          </a:p>
        </p:txBody>
      </p:sp>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0"/>
          </p:nvPr>
        </p:nvSpPr>
        <p:spPr>
          <a:xfrm>
            <a:off x="2975013" y="3962573"/>
            <a:ext cx="2139696" cy="344312"/>
          </a:xfrm>
        </p:spPr>
        <p:txBody>
          <a:bodyPr>
            <a:normAutofit fontScale="92500" lnSpcReduction="20000"/>
          </a:bodyPr>
          <a:lstStyle/>
          <a:p>
            <a:endParaRPr lang="en-IN" dirty="0"/>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1"/>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Ion</Template>
  <TotalTime>1523</TotalTime>
  <Words>586</Words>
  <Application>Microsoft Office PowerPoint</Application>
  <PresentationFormat>Widescreen</PresentationFormat>
  <Paragraphs>51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Calibri</vt:lpstr>
      <vt:lpstr>Century Gothic</vt:lpstr>
      <vt:lpstr>Times New Roman</vt:lpstr>
      <vt:lpstr>Wingdings</vt:lpstr>
      <vt:lpstr>Wingdings 3</vt:lpstr>
      <vt:lpstr>Ion</vt:lpstr>
      <vt:lpstr>Project Title -Seasonal_Agriculture_Performance _Analysis</vt:lpstr>
      <vt:lpstr>PROBLEM  STATEMENT</vt:lpstr>
      <vt:lpstr>Project Description: This project analyzes agricultural data across different seasons such as Kharif, Rabi, and Zaid.  The dataset contains information about crops, geographical regions, farming conditions, environmental factors, resources, production, revenue, cost, and profit.  Data preprocessing and cleaning techniques are used to improve data quality.  Exploratory Data Analysis (EDA) is performed to understand important patterns and trends.  Seasonal performance is compared using yield, production, revenue, cost, and profit.  Crop-wise and region-wise performance is analyzed.  Relationships between environmental factors and crop yield are studied using correlation analysis.  Statistical techniques such as ANOVA and Tukey HSD are used to compare seasonal performance.  The final results provide insights for seasonal crop planning and efficient resource allocation.   </vt:lpstr>
      <vt:lpstr>WHO ARE THE END USERS?</vt:lpstr>
      <vt:lpstr>Technology Used</vt:lpstr>
      <vt:lpstr>RESULTS </vt:lpstr>
      <vt:lpstr>RESULTS </vt:lpstr>
      <vt:lpstr>RESULTS </vt:lpstr>
      <vt:lpstr>RESULTS </vt:lpstr>
      <vt:lpstr>RESULTS </vt:lpstr>
      <vt:lpstr>Future scope:    Develop a real-time agricultural dashboard for monitoring seasonal performance.  Integrate weather APIs for real-time rainfall and temperature information.  Use Machine Learning to predict crop yield.  Develop a crop recommendation system based on soil and environmental conditions.  Add market price prediction to estimate future profitability.  Integrate satellite and remote-sensing data for advanced agricultural monitoring.  Develop a mobile application for farmers and agricultural officers.  Provide regional and personalized recommendations based on farm conditions.  Use historical data to identify climate-related agricultural risks.  Extend the system with AI-based decision support for sustainable farming.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vanaparthyruthwik@outlook.com</cp:lastModifiedBy>
  <cp:revision>100</cp:revision>
  <dcterms:created xsi:type="dcterms:W3CDTF">2021-07-11T13:13:15Z</dcterms:created>
  <dcterms:modified xsi:type="dcterms:W3CDTF">2026-09-09T18:16:42Z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